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lang="ru-RU" sz="1200" b="0" i="0" u="none" strike="noStrike">
                <a:solidFill>
                  <a:srgbClr val="1F2933"/>
                </a:solidFill>
                <a:latin typeface="Calibri"/>
              </a:rPr>
              <a:t>LR в CLR 0.1 → 3 → 0.1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learning rate</c:v>
                </c:pt>
              </c:strCache>
            </c:strRef>
          </c:tx>
          <c:spPr>
            <a:ln w="38100" cap="flat">
              <a:solidFill>
                <a:srgbClr val="1F6FE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  <c:pt idx="4">
                  <c:v>40%</c:v>
                </c:pt>
                <c:pt idx="5">
                  <c:v>50%</c:v>
                </c:pt>
                <c:pt idx="6">
                  <c:v>60%</c:v>
                </c:pt>
                <c:pt idx="7">
                  <c:v>70%</c:v>
                </c:pt>
                <c:pt idx="8">
                  <c:v>80%</c:v>
                </c:pt>
                <c:pt idx="9">
                  <c:v>90%</c:v>
                </c:pt>
                <c:pt idx="10">
                  <c:v>100%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</c:v>
                </c:pt>
                <c:pt idx="1">
                  <c:v>0.68</c:v>
                </c:pt>
                <c:pt idx="2">
                  <c:v>1.26</c:v>
                </c:pt>
                <c:pt idx="3">
                  <c:v>1.84</c:v>
                </c:pt>
                <c:pt idx="4">
                  <c:v>2.42</c:v>
                </c:pt>
                <c:pt idx="5">
                  <c:v>3</c:v>
                </c:pt>
                <c:pt idx="6">
                  <c:v>2.42</c:v>
                </c:pt>
                <c:pt idx="7">
                  <c:v>1.84</c:v>
                </c:pt>
                <c:pt idx="8">
                  <c:v>1.26</c:v>
                </c:pt>
                <c:pt idx="9">
                  <c:v>0.68</c:v>
                </c:pt>
                <c:pt idx="10">
                  <c:v>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E0-4723-BEDE-DF07BE0249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ru-RU" sz="1000" b="0" i="0" u="none" strike="noStrike">
                    <a:solidFill>
                      <a:srgbClr val="6B7280"/>
                    </a:solidFill>
                    <a:latin typeface="Arial"/>
                  </a:rPr>
                  <a:t>доля обучения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acc, %</c:v>
                </c:pt>
              </c:strCache>
            </c:strRef>
          </c:tx>
          <c:spPr>
            <a:solidFill>
              <a:srgbClr val="1F6FE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макс. LR = 1</c:v>
                </c:pt>
                <c:pt idx="1">
                  <c:v>макс. LR = 3</c:v>
                </c:pt>
                <c:pt idx="2">
                  <c:v>PC (для сравнения)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91.4</c:v>
                </c:pt>
                <c:pt idx="2">
                  <c:v>91.6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EE-4FE3-B6F0-A89FC41859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.5"/>
          <c:min val="88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7280"/>
                    </a:solidFill>
                    <a:latin typeface="Arial"/>
                  </a:rPr>
                  <a:t>test accuracy,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acc, %</c:v>
                </c:pt>
              </c:strCache>
            </c:strRef>
          </c:tx>
          <c:spPr>
            <a:solidFill>
              <a:srgbClr val="1F6FE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step «85 эп.»</c:v>
                </c:pt>
                <c:pt idx="1">
                  <c:v>1cycle «12»</c:v>
                </c:pt>
                <c:pt idx="2">
                  <c:v>1cycle «25»</c:v>
                </c:pt>
                <c:pt idx="3">
                  <c:v>1cycle «50»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98.92</c:v>
                </c:pt>
                <c:pt idx="1">
                  <c:v>98.82</c:v>
                </c:pt>
                <c:pt idx="2">
                  <c:v>99.05</c:v>
                </c:pt>
                <c:pt idx="3">
                  <c:v>99.14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55-459E-AB73-4777C30B6A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9.4"/>
          <c:min val="98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7280"/>
                    </a:solidFill>
                    <a:latin typeface="Arial"/>
                  </a:rPr>
                  <a:t>test accuracy,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6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статья про super-convergence. Я воспроизвёл её основные эксперименты на ResNet-20 и CIFAR-10.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 статьи в одном слайде: огромный LR + правильное расписание = быстрое обучение без потери точности.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Аналогия: спуск с горы в тумане. Сначала осторожные шаги, по ровной долине бежим, у самой ямы снова аккуратно.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Третья карточка — самая важная практическая идея: регуляризация должна быть сбалансирована, как соль в блюде.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 проговариваем отличия от статьи: меньший масштаб, ResNet-20 вместо ResNet-56, один сид.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результат. В таблице код поставил ≈, потому что CLR не обогнал PC, но по сути гипотеза «не хуже за 8 раз меньше времени» подтвердилась. Наш baseline сильнее, чем в статье (91.6 против 88.6), поэтому выигрыш меньше. На ResNet-56 ранее получили 92.7% против 92.3%.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Без большого максимума эффекта меньше: с LR 1 CLR отстаёт от обычного обучения на 1.6 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Точки 2k, 6k, 8k, 10k, 20k итераций из табл. 6 статьи в нашем масштабе. Рост монотонный. Порог, при котором CLR догоняет обычное обучение, у нас 8×, у авторов около 13×: наш baseline сильнее.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 test — это короткий прогон, где LR растёт с каждым шагом. Главное: при LR до 3 обучение не расходится, значит такой большой LR можно использовать в 1cycle.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чистое доказательство — сравнение максимального LR 1 и 3 при одном бюджете: train accuracy одинаковая, а test выше у LR 3, значит меньше переобучение. График: range test минус контрольный прогон с постоянным LR 0.1 той же длины, так мы убираем эффект времени обучения. Честно: в заранее выбранном окне LR 0.3-1.5 эффекта нет (наклон 0.006), он появляется при LR выше 1.5.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наглядное подтверждение идеи баланса регуляризации: при 1e-3 сеть падает до уровня случайного угадывания.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MAF — насколько медленно BatchNorm обновляет накопленные среднее и дисперсию, которые используются на тесте. При быстром обучении они должны обновляться быстро.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малом количестве данных переобучение опаснее, и регуляризация от большого LR полезнее.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Формула оценки умножается на текущий LR, поэтому она следует за расписанием. Это ограничение метода, сами авторы называют его иллюстрацией.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MNIST слишком простой: все варианты дают ~99%, различия меньше шума.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 10 гипотез: 5 подтвердились, 2 в основном, 2 частично, 1 нет. Главная — подтвердилась.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Также на ResNet-56 в первом прогоне: 92.7% против 92.3%. Сейчас 1cycle и warmup с последующим спуском LR — стандарт (OneCycleLR в PyTorch).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Super-Convergence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обучать нейросеть в разы быстрее с огромным learning rate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Воспроизведение статьи: L. Smith, N. Topin, 2017 (arXiv:1708.07120)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ResNet-20, CIFAR-10, PyTorch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71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статья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0871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</a:t>
            </a:r>
            <a:r>
              <a:rPr lang="ru-RU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длина шага при обучении. Обычно берут около 0.1 и постепенно уменьшают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Авторы обнаружили: если поднять LR до 3 (в 30 </a:t>
            </a:r>
            <a:r>
              <a:rPr lang="en-US" sz="18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</a:t>
            </a: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</a:t>
            </a:r>
            <a:r>
              <a:rPr lang="ru-RU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обычного</a:t>
            </a: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одним циклом, сеть учится в 5–10 раз быстрее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явление назвали super-convergence </a:t>
            </a:r>
            <a:endParaRPr lang="ru-RU" sz="1800" dirty="0">
              <a:solidFill>
                <a:srgbClr val="1F29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вместе с большим LR нужно уменьшить другую регуляризацию (weight decay)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один цикл LR (1cycle)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Начало: </a:t>
            </a:r>
            <a:r>
              <a:rPr lang="en-US" sz="16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малый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LR, сеть </a:t>
            </a:r>
            <a:r>
              <a:rPr lang="en-US" sz="16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</a:t>
            </a:r>
            <a:r>
              <a:rPr lang="ru-RU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(ал-я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мы например стоим с горы и любое резкое движение может привести совсем не туда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мы хотим узнать куда нам спускаться)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Середина: </a:t>
            </a:r>
            <a:r>
              <a:rPr lang="en-US" sz="16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огромный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LR, быстро проходим «ровные» </a:t>
            </a:r>
            <a:r>
              <a:rPr lang="en-US" sz="16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участки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(ал-я равнину)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Конец: LR снова </a:t>
            </a:r>
            <a:r>
              <a:rPr lang="en-US" sz="16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малый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аккуратно садимся в </a:t>
            </a:r>
            <a:r>
              <a:rPr lang="en-US" sz="16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выбрать максимум: LR range test - короткий прогон с растущим LR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846320" y="1188720"/>
          <a:ext cx="39319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работает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</a:t>
            </a:r>
            <a:r>
              <a:rPr lang="en-US" sz="1700" b="1" dirty="0" err="1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</a:t>
            </a:r>
            <a:r>
              <a:rPr lang="ru-RU" sz="1700" b="1" dirty="0" err="1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авнине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Большие шаги быстро проходят длинные плоские участки функции потерь, где маленькие шаги тратят время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17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LR = </a:t>
            </a:r>
            <a:r>
              <a:rPr lang="en-US" sz="1700" b="1" dirty="0" err="1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регуляризация</a:t>
            </a:r>
            <a:r>
              <a:rPr lang="en-US" sz="1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как малые веса от вычитания улетают -</a:t>
            </a:r>
            <a:r>
              <a:rPr lang="en-US" sz="1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51860" y="265176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 от больших шагов мешает сети просто запомнить данные, поэтому она лучше обобщает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417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регуляризации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1031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большой LR уже регуляризует, weight decay и другие регуляризаторы </a:t>
            </a:r>
            <a:r>
              <a:rPr lang="en-US" sz="14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уменьшить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возникнет чудо в виде «</a:t>
            </a:r>
            <a:r>
              <a:rPr lang="ru-RU" sz="14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недообучение</a:t>
            </a:r>
            <a:r>
              <a:rPr lang="ru-RU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постановка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ResNet-20, CIFAR-10, batch 1000, SGD с momentum 0.9, weight decay 1e-4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Обычное обучение (PC): LR 0.35, делим на 10 на 50% и 75% обучения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CLR: LR 0.1 → 3 → 0.1 за один цикл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0.275 от бюджетов </a:t>
            </a:r>
            <a:r>
              <a:rPr lang="en-US" sz="16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статьи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(так как я обучал на своей домашней </a:t>
            </a:r>
            <a:r>
              <a:rPr lang="en-US" sz="16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5060 </a:t>
            </a:r>
            <a:r>
              <a:rPr lang="en-US" sz="16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CLR ≈ 54 эпохи против PC ≈ 439 </a:t>
            </a:r>
            <a:r>
              <a:rPr lang="en-US" sz="16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то же соотношение 1 : 8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сид, PyTorch, mixed precision. Вердикты считаются по порогам, заданным в коде заранее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1: та же точность в 8 раз быстрее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5" name="Image 0" descr="im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937760" cy="384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за 8 раз меньше итераций даёт точность не хуже обычного обучения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21488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PC: 91.6% за 90 мин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CLR: 91.4% за 11 мин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1cycle с хвостом: 91.6% за 11 мин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(статья, ResNet-20: 88.6% и 90.4%)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точность в 8 раз быстрее. Разница 0.2 % - в пределах шума одного сида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4343400"/>
            <a:ext cx="1828800" cy="347472"/>
          </a:xfrm>
          <a:prstGeom prst="rect">
            <a:avLst/>
          </a:prstGeom>
          <a:solidFill>
            <a:srgbClr val="E7F5EC"/>
          </a:solidFill>
          <a:ln w="9525">
            <a:solidFill>
              <a:srgbClr val="1E7B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0" y="4343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Подтвердилось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2: нужен очень большой LR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88720"/>
          <a:ext cx="49377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480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Статья: 91.3% (LR 1) и 92.4% (LR 3)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Максимальный LR около 3 работает лучше, чем осторожный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1488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1: 90.0%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3: 91.4%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больше максимум LR, тем </a:t>
            </a:r>
            <a:r>
              <a:rPr lang="en-US" sz="13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как в </a:t>
            </a:r>
            <a:r>
              <a:rPr lang="en-US" sz="13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статье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подтверждает перескок «равнины»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4343400"/>
            <a:ext cx="1828800" cy="347472"/>
          </a:xfrm>
          <a:prstGeom prst="rect">
            <a:avLst/>
          </a:prstGeom>
          <a:solidFill>
            <a:srgbClr val="E7F5EC"/>
          </a:solidFill>
          <a:ln w="9525">
            <a:solidFill>
              <a:srgbClr val="1E7B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0" y="4343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Подтвердилось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3: сколько итераций нужно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5" name="Image 0" descr="img_h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937760" cy="32639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больше итераций, тем выше точность; CLR догоняет PC при бюджете на порядок меньше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21488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13× меньше итераций: 90.4%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10× меньше: 91.0%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8× меньше: 91.4% </a:t>
            </a:r>
            <a:r>
              <a:rPr lang="ru-RU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догнал PC (91.6%)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4× меньше: 91.8% </a:t>
            </a:r>
            <a:r>
              <a:rPr lang="ru-RU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обогнал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догоняет PC при 8-кратном сокращении. В статье хватало 13-кратного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4343400"/>
            <a:ext cx="1828800" cy="347472"/>
          </a:xfrm>
          <a:prstGeom prst="rect">
            <a:avLst/>
          </a:prstGeom>
          <a:solidFill>
            <a:srgbClr val="EEF6E0"/>
          </a:solidFill>
          <a:ln w="9525">
            <a:solidFill>
              <a:srgbClr val="4F6B1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0" y="4343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основном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4: сеть выдерживает огромный LR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pic>
        <p:nvPicPr>
          <p:cNvPr id="5" name="Image 0" descr="img_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2154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342776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range test (LR растёт от 0 до 3) точность остаётся высокой вплоть до LR 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3342776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не развалилось до LR 3. Пик 80.5% около LR 1.5, при LR ≥ 2.5 </a:t>
            </a:r>
            <a:r>
              <a:rPr lang="ru-RU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75%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334277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Огромный LR сеть выдерживает, но после пика точность немного ниже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4257176"/>
            <a:ext cx="1828800" cy="347472"/>
          </a:xfrm>
          <a:prstGeom prst="rect">
            <a:avLst/>
          </a:prstGeom>
          <a:solidFill>
            <a:srgbClr val="FDF3E1"/>
          </a:solidFill>
          <a:ln w="9525">
            <a:solidFill>
              <a:srgbClr val="8A5A0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42571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5: большой LR </a:t>
            </a:r>
            <a:r>
              <a:rPr lang="ru-RU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это регуляризация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5" name="Image 0" descr="img_ct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97280"/>
            <a:ext cx="6858000" cy="22475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4363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LR мешает сети запоминать train-данные, поэтому она меньше переобучается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34363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Одинаковый бюджет, train 97.5% у обоих: LR 3 </a:t>
            </a:r>
            <a:r>
              <a:rPr lang="ru-RU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разрыв train </a:t>
            </a:r>
            <a:r>
              <a:rPr lang="ru-RU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6.1 п., LR 1 </a:t>
            </a:r>
            <a:r>
              <a:rPr lang="ru-RU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7.5 п. </a:t>
            </a:r>
            <a:br>
              <a:rPr lang="ru-RU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ru-RU" sz="1200" dirty="0">
              <a:solidFill>
                <a:srgbClr val="1F29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</a:t>
            </a: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LR &gt; 1.5 train loss выше, чем при LR 0.1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34363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LR снижает переобучение. Но test loss во время большого LR не падает, как на рис. 8</a:t>
            </a:r>
            <a:r>
              <a:rPr lang="ru-RU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из статьи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4350700"/>
            <a:ext cx="1828800" cy="347472"/>
          </a:xfrm>
          <a:prstGeom prst="rect">
            <a:avLst/>
          </a:prstGeom>
          <a:solidFill>
            <a:srgbClr val="EEF6E0"/>
          </a:solidFill>
          <a:ln w="9525">
            <a:solidFill>
              <a:srgbClr val="4F6B1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43507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основном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6: weight decay нужно уменьшать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pic>
        <p:nvPicPr>
          <p:cNvPr id="5" name="Image 0" descr="img_w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937760" cy="27501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большом LR weight decay 1e-3 ломает эффект, а 1e-4 и </a:t>
            </a:r>
            <a:r>
              <a:rPr lang="en-US" sz="13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нет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21488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 1e-3: 10% </a:t>
            </a:r>
            <a:r>
              <a:rPr lang="ru-RU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обучение развалилось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 1e-4: 91.4%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 1e-5: 90.8%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LR + большой weight decay = слишком много регуляризации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4343400"/>
            <a:ext cx="1828800" cy="347472"/>
          </a:xfrm>
          <a:prstGeom prst="rect">
            <a:avLst/>
          </a:prstGeom>
          <a:solidFill>
            <a:srgbClr val="E7F5EC"/>
          </a:solidFill>
          <a:ln w="9525">
            <a:solidFill>
              <a:srgbClr val="1E7B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0" y="4343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Подтвердилось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7: BatchNorm должен быстро обновляться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pic>
        <p:nvPicPr>
          <p:cNvPr id="5" name="Image 0" descr="img_m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937760" cy="27501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стандартной настройкой BatchNorm (MAF 0.999) эффект пропадает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21488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0.999: 15.9%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по статье (~0.8): 91.4%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хранит средние статистики; при 0.999 они не успевают за быстро меняющимися весами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4343400"/>
            <a:ext cx="1828800" cy="347472"/>
          </a:xfrm>
          <a:prstGeom prst="rect">
            <a:avLst/>
          </a:prstGeom>
          <a:solidFill>
            <a:srgbClr val="E7F5EC"/>
          </a:solidFill>
          <a:ln w="9525">
            <a:solidFill>
              <a:srgbClr val="1E7B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0" y="4343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Подтвердилось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8: при малом числе данных выигрыш больше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pic>
        <p:nvPicPr>
          <p:cNvPr id="5" name="Image 0" descr="img_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937760" cy="32666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меньше данных, тем сильнее CLR обгоняет обычное обучение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21488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примеров: −0.1 п.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примеров: +2.9 п. (85.2% против 82.3%)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статья на 10k: +9.2 п.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совпало. Эффект меньше: наш PC на 10k намного сильнее (82% против 71%)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4343400"/>
            <a:ext cx="1828800" cy="347472"/>
          </a:xfrm>
          <a:prstGeom prst="rect">
            <a:avLst/>
          </a:prstGeom>
          <a:solidFill>
            <a:srgbClr val="E7F5EC"/>
          </a:solidFill>
          <a:ln w="9525">
            <a:solidFill>
              <a:srgbClr val="1E7B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0" y="4343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Подтвердилось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9: оценка оптимального LR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pic>
        <p:nvPicPr>
          <p:cNvPr id="5" name="Image 0" descr="img_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22115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400292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начале оценка 2–6; при CLR в конце она выше, чем при постоянном LR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340029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начале ~0.8 вместо 2–6. В конце: CLR 0.73, постоянный LR 0.08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34002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часть совпала, но оценка повторяет форму расписания LR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4314692"/>
            <a:ext cx="1828800" cy="347472"/>
          </a:xfrm>
          <a:prstGeom prst="rect">
            <a:avLst/>
          </a:prstGeom>
          <a:solidFill>
            <a:srgbClr val="FDF3E1"/>
          </a:solidFill>
          <a:ln w="9525">
            <a:solidFill>
              <a:srgbClr val="8A5A0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43146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10: работает и на MNIST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88720"/>
          <a:ext cx="49377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480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Эпохи в единицах статьи (× 0.275 у 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Статья: 99.00% и 99.25% за 12 эпох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1cycle за 12 эпох лучше step за 85 эпох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1488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«12 эпох» у нас ≈ 3 реальных: 98.82% против 98.92%. «25 эпох» уже лучше step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Ускорение есть, но ~3.4×, а не 7×. Разницы &lt; 0.3 п. </a:t>
            </a:r>
            <a:r>
              <a:rPr lang="ru-RU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почти шум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4343400"/>
            <a:ext cx="1828800" cy="347472"/>
          </a:xfrm>
          <a:prstGeom prst="rect">
            <a:avLst/>
          </a:prstGeom>
          <a:solidFill>
            <a:srgbClr val="FDECEC"/>
          </a:solidFill>
          <a:ln w="9525">
            <a:solidFill>
              <a:srgbClr val="A1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0" y="4343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1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подтвердилось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что подтвердилось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764099"/>
              </p:ext>
            </p:extLst>
          </p:nvPr>
        </p:nvGraphicFramePr>
        <p:xfrm>
          <a:off x="457200" y="1143000"/>
          <a:ext cx="8229600" cy="3319272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Гипотеза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Вердикт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Та же точность в 8 раз быстрее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91.4% против 91.6%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Подтвердилось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Нужен очень большой LR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91.4% против 90.0%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Подтвердилось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Сколько итераций нужно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догнал PC при 8×, обогнал при 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F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основном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Сеть выдерживает огромный LR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развалилась до LR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Большой LR </a:t>
                      </a:r>
                      <a:r>
                        <a:rPr lang="ru-RU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регуляризация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разрыв train − test 6.1 против 7.5 п.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F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основном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Weight decay нужно уменьшать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 → 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Подтвердилось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BatchNorm должен быстро обновляться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 → 15.9%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Подтвердилось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Мало </a:t>
                      </a:r>
                      <a:r>
                        <a:rPr lang="en-US" sz="1200" dirty="0" err="1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данных</a:t>
                      </a: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ru-RU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выигрыш больше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 п. </a:t>
                      </a:r>
                      <a:r>
                        <a:rPr lang="en-US" sz="1200" dirty="0" err="1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против</a:t>
                      </a: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ru-RU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п.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Подтвердилось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Оценка оптимального LR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совпала наполовину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 MNIST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разницы в пределах шума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1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подтвердилось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и ограничения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подтвердилось: один цикл с LR до 3 даёт ту же точность в 8 раз быстрее, а при 4-кратном </a:t>
            </a:r>
            <a:r>
              <a:rPr lang="en-US" sz="17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сокращении</a:t>
            </a: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даже выше (91.8% против 91.6%)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ru-RU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r>
              <a:rPr lang="en-US" sz="17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ольшой</a:t>
            </a: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LR снижает переобучение, поэтому нужен малый weight decay; ещё нужны быстрые статистики BatchNorm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Эффекты слабее, чем в статье: baseline в PyTorch заметно сильнее, чем у </a:t>
            </a:r>
            <a:r>
              <a:rPr lang="en-US" sz="17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авторов</a:t>
            </a:r>
            <a:r>
              <a:rPr lang="ru-RU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Ограничения: один сид, масштаб 0.275 от статьи, ResNet-20, только CIFAR-10 и MNIST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1744</Words>
  <Application>Microsoft Office PowerPoint</Application>
  <PresentationFormat>Экран (16:9)</PresentationFormat>
  <Paragraphs>215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Super-Convergence: воспроизведение на ResNet-20</dc:title>
  <dc:subject>PptxGenJS Presentation</dc:subject>
  <dc:creator>PptxGenJS</dc:creator>
  <cp:lastModifiedBy>IPC</cp:lastModifiedBy>
  <cp:revision>2</cp:revision>
  <dcterms:created xsi:type="dcterms:W3CDTF">2026-10-10T09:50:38Z</dcterms:created>
  <dcterms:modified xsi:type="dcterms:W3CDTF">2026-10-10T10:09:23Z</dcterms:modified>
</cp:coreProperties>
</file>